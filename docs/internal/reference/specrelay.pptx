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-67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cnapcloud.com/gitops/" TargetMode="External"/><Relationship Id="rId2" Type="http://schemas.openxmlformats.org/officeDocument/2006/relationships/hyperlink" Target="http://github.com/cnapcloud/rag-api/.claude" TargetMode="Externa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DBEAFE"/>
                </a:solidFill>
                <a:latin typeface="Malgun Gothic"/>
              </a:rPr>
              <a:t>Spec 기반 AI 협업 개발 워크플로우 · 자체 개발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8892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FFFFFF"/>
                </a:solidFill>
                <a:latin typeface="Malgun Gothic"/>
              </a:rPr>
              <a:t>SpecRelay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94760"/>
            <a:ext cx="9144000" cy="34015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600" b="0" i="0" dirty="0" smtClean="0">
                <a:solidFill>
                  <a:srgbClr val="C7D2FE"/>
                </a:solidFill>
                <a:latin typeface="Malgun Gothic"/>
              </a:rPr>
              <a:t>RAG</a:t>
            </a:r>
            <a:r>
              <a:rPr sz="1600" b="0" i="0" dirty="0" smtClean="0">
                <a:solidFill>
                  <a:srgbClr val="C7D2FE"/>
                </a:solidFill>
                <a:latin typeface="Malgun Gothic"/>
              </a:rPr>
              <a:t>-</a:t>
            </a:r>
            <a:r>
              <a:rPr lang="en-US" sz="1600" b="0" i="0" dirty="0" smtClean="0">
                <a:solidFill>
                  <a:srgbClr val="C7D2FE"/>
                </a:solidFill>
                <a:latin typeface="Malgun Gothic"/>
              </a:rPr>
              <a:t>API</a:t>
            </a:r>
            <a:r>
              <a:rPr sz="1600" b="0" i="0" dirty="0" smtClean="0">
                <a:solidFill>
                  <a:srgbClr val="C7D2FE"/>
                </a:solidFill>
                <a:latin typeface="Malgun Gothic"/>
              </a:rPr>
              <a:t> </a:t>
            </a:r>
            <a:r>
              <a:rPr sz="1600" b="0" i="0" dirty="0" err="1" smtClean="0">
                <a:solidFill>
                  <a:srgbClr val="C7D2FE"/>
                </a:solidFill>
                <a:latin typeface="Malgun Gothic"/>
              </a:rPr>
              <a:t>프로젝트</a:t>
            </a:r>
            <a:r>
              <a:rPr lang="en-US" sz="1600" dirty="0">
                <a:solidFill>
                  <a:srgbClr val="C7D2FE"/>
                </a:solidFill>
                <a:latin typeface="Malgun Gothic"/>
              </a:rPr>
              <a:t>(https</a:t>
            </a:r>
            <a:r>
              <a:rPr lang="en-US" sz="1600" dirty="0" smtClean="0">
                <a:solidFill>
                  <a:srgbClr val="C7D2FE"/>
                </a:solidFill>
                <a:latin typeface="Malgun Gothic"/>
              </a:rPr>
              <a:t>://github.com/cnapcloud/rag-api)</a:t>
            </a:r>
            <a:r>
              <a:rPr sz="1600" b="0" i="0" dirty="0" smtClean="0">
                <a:solidFill>
                  <a:srgbClr val="C7D2FE"/>
                </a:solidFill>
                <a:latin typeface="Malgun Gothic"/>
              </a:rPr>
              <a:t> </a:t>
            </a:r>
            <a:r>
              <a:rPr sz="1600" b="0" i="0" dirty="0">
                <a:solidFill>
                  <a:srgbClr val="C7D2FE"/>
                </a:solidFill>
                <a:latin typeface="Malgun Gothic"/>
              </a:rPr>
              <a:t>· .</a:t>
            </a:r>
            <a:r>
              <a:rPr sz="1600" b="0" i="0" dirty="0" err="1">
                <a:solidFill>
                  <a:srgbClr val="C7D2FE"/>
                </a:solidFill>
                <a:latin typeface="Malgun Gothic"/>
              </a:rPr>
              <a:t>claude</a:t>
            </a:r>
            <a:r>
              <a:rPr sz="1600" b="0" i="0" dirty="0">
                <a:solidFill>
                  <a:srgbClr val="C7D2FE"/>
                </a:solidFill>
                <a:latin typeface="Malgun Gothic"/>
              </a:rPr>
              <a:t> </a:t>
            </a:r>
            <a:r>
              <a:rPr sz="1600" b="0" i="0" dirty="0" err="1">
                <a:solidFill>
                  <a:srgbClr val="C7D2FE"/>
                </a:solidFill>
                <a:latin typeface="Malgun Gothic"/>
              </a:rPr>
              <a:t>워크플로우</a:t>
            </a:r>
            <a:endParaRPr sz="1600" b="0" i="0" dirty="0">
              <a:solidFill>
                <a:srgbClr val="C7D2FE"/>
              </a:solidFill>
              <a:latin typeface="Malgun Gothic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11936" y="4343400"/>
            <a:ext cx="1463040" cy="4602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413810"/>
            <a:ext cx="9144000" cy="34015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1600" dirty="0" smtClean="0">
                <a:solidFill>
                  <a:srgbClr val="C7D2FE"/>
                </a:solidFill>
                <a:latin typeface="Malgun Gothic"/>
              </a:rPr>
              <a:t>2026.09 </a:t>
            </a:r>
            <a:r>
              <a:rPr lang="ko-KR" altLang="en-US" sz="1600" dirty="0" smtClean="0">
                <a:solidFill>
                  <a:srgbClr val="C7D2FE"/>
                </a:solidFill>
                <a:latin typeface="Malgun Gothic"/>
              </a:rPr>
              <a:t>김창제</a:t>
            </a:r>
            <a:endParaRPr sz="1600" b="0" i="0" dirty="0">
              <a:solidFill>
                <a:srgbClr val="C7D2FE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2563EB"/>
                </a:solidFill>
                <a:latin typeface="Malgun Gothic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F2937"/>
                </a:solidFill>
                <a:latin typeface="Malgun Gothic"/>
              </a:rPr>
              <a:t>왜 SpecRelay가 필요한가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1091672" cy="254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6B7280"/>
                </a:solidFill>
                <a:latin typeface="Malgun Gothic"/>
              </a:rPr>
              <a:t>02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5120640" cy="640080"/>
          </a:xfrm>
          <a:prstGeom prst="roundRect">
            <a:avLst/>
          </a:prstGeom>
          <a:solidFill>
            <a:srgbClr val="F3F4F6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300" b="1">
                <a:solidFill>
                  <a:srgbClr val="1F2937"/>
                </a:solidFill>
                <a:latin typeface="Malgun Gothic"/>
              </a:rPr>
              <a:t>사람이 기획→설계→구현→검증을</a:t>
            </a:r>
          </a:p>
          <a:p>
            <a:pPr algn="ctr"/>
            <a:r>
              <a:rPr sz="1300" b="0">
                <a:solidFill>
                  <a:srgbClr val="1F2937"/>
                </a:solidFill>
                <a:latin typeface="Malgun Gothic"/>
              </a:rPr>
              <a:t>매번 반복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00400" y="2212848"/>
            <a:ext cx="0" cy="301752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40080" y="2542032"/>
            <a:ext cx="5120640" cy="640080"/>
          </a:xfrm>
          <a:prstGeom prst="roundRect">
            <a:avLst/>
          </a:prstGeom>
          <a:solidFill>
            <a:srgbClr val="FEE2E2"/>
          </a:solidFill>
          <a:ln w="1587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300" b="1">
                <a:solidFill>
                  <a:srgbClr val="DC2626"/>
                </a:solidFill>
                <a:latin typeface="Malgun Gothic"/>
              </a:rPr>
              <a:t>AI에게 통째로 위임</a:t>
            </a:r>
          </a:p>
          <a:p>
            <a:pPr algn="ctr"/>
            <a:r>
              <a:rPr sz="1300" b="0">
                <a:solidFill>
                  <a:srgbClr val="DC2626"/>
                </a:solidFill>
                <a:latin typeface="Malgun Gothic"/>
              </a:rPr>
              <a:t>(근거 없는 설계 / 추적 불가)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0400" y="3200400"/>
            <a:ext cx="0" cy="301752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40080" y="3529584"/>
            <a:ext cx="5120640" cy="640080"/>
          </a:xfrm>
          <a:prstGeom prst="roundRect">
            <a:avLst/>
          </a:prstGeom>
          <a:solidFill>
            <a:srgbClr val="FEF3C7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300" b="1">
                <a:solidFill>
                  <a:srgbClr val="1F2937"/>
                </a:solidFill>
                <a:latin typeface="Malgun Gothic"/>
              </a:rPr>
              <a:t>문서-코드 불일치, 리뷰 부담 누적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9730"/>
            <a:ext cx="5394960" cy="237744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83261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2563EB"/>
                </a:solidFill>
                <a:latin typeface="Malgun Gothic"/>
              </a:rPr>
              <a:t>목표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244090"/>
            <a:ext cx="48463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1F2937"/>
                </a:solidFill>
                <a:latin typeface="Malgun Gothic"/>
              </a:rPr>
              <a:t>재현 가능하고</a:t>
            </a:r>
          </a:p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1F2937"/>
                </a:solidFill>
                <a:latin typeface="Malgun Gothic"/>
              </a:rPr>
              <a:t>감사(auditable) 가능한</a:t>
            </a:r>
          </a:p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1F2937"/>
                </a:solidFill>
                <a:latin typeface="Malgun Gothic"/>
              </a:rPr>
              <a:t>AI 개발 파이프라인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2563EB"/>
                </a:solidFill>
                <a:latin typeface="Malgun Gothic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F2937"/>
                </a:solidFill>
                <a:latin typeface="Malgun Gothic"/>
              </a:rPr>
              <a:t>기능 하나가 개발되는 여정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1091672" cy="254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6B7280"/>
                </a:solidFill>
                <a:latin typeface="Malgun Gothic"/>
              </a:rPr>
              <a:t>03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1">
                <a:solidFill>
                  <a:srgbClr val="6B7280"/>
                </a:solidFill>
                <a:latin typeface="Malgun Gothic"/>
              </a:rPr>
              <a:t>예: "검색 결과 캐싱 추가" 기능 — 요청부터 main 반영까지 한 줄기 흐름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5167" y="2103120"/>
            <a:ext cx="1600200" cy="822960"/>
          </a:xfrm>
          <a:prstGeom prst="roundRect">
            <a:avLst/>
          </a:prstGeom>
          <a:solidFill>
            <a:srgbClr val="2563EB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요청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Malgun Gothic"/>
              </a:rPr>
              <a:t>(/spec-new)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0" y="2514600"/>
            <a:ext cx="0" cy="0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511399" y="2103120"/>
            <a:ext cx="1600200" cy="822960"/>
          </a:xfrm>
          <a:prstGeom prst="roundRect">
            <a:avLst/>
          </a:prstGeom>
          <a:solidFill>
            <a:srgbClr val="2563EB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설계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Malgun Gothic"/>
              </a:rPr>
              <a:t>(/spec-design)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0" y="2514600"/>
            <a:ext cx="0" cy="0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367631" y="2103120"/>
            <a:ext cx="1600200" cy="822960"/>
          </a:xfrm>
          <a:prstGeom prst="roundRect">
            <a:avLst/>
          </a:prstGeom>
          <a:solidFill>
            <a:srgbClr val="2563EB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구현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Malgun Gothic"/>
              </a:rPr>
              <a:t>(/spec-implement)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0" y="2514600"/>
            <a:ext cx="0" cy="0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223863" y="2103120"/>
            <a:ext cx="1600200" cy="822960"/>
          </a:xfrm>
          <a:prstGeom prst="roundRect">
            <a:avLst/>
          </a:prstGeom>
          <a:solidFill>
            <a:srgbClr val="2563EB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검증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Malgun Gothic"/>
              </a:rPr>
              <a:t>(/spec-validate)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0" y="2514600"/>
            <a:ext cx="0" cy="0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080095" y="2103120"/>
            <a:ext cx="1600200" cy="822960"/>
          </a:xfrm>
          <a:prstGeom prst="roundRect">
            <a:avLst/>
          </a:prstGeom>
          <a:solidFill>
            <a:srgbClr val="2563EB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PR/CI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Malgun Gothic"/>
              </a:rPr>
              <a:t>(/spec-pr)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0" y="2514600"/>
            <a:ext cx="0" cy="0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936327" y="2103120"/>
            <a:ext cx="1600200" cy="822960"/>
          </a:xfrm>
          <a:prstGeom prst="roundRect">
            <a:avLst/>
          </a:prstGeom>
          <a:solidFill>
            <a:srgbClr val="2563EB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main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Malgun Gothic"/>
              </a:rPr>
              <a:t>반영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291840"/>
            <a:ext cx="2286000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200" b="1">
                <a:solidFill>
                  <a:srgbClr val="16A34A"/>
                </a:solidFill>
                <a:latin typeface="Malgun Gothic"/>
              </a:rPr>
              <a:t>Skills 개입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3364992"/>
            <a:ext cx="8412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1F2937"/>
                </a:solidFill>
                <a:latin typeface="Malgun Gothic"/>
              </a:rPr>
              <a:t>각 단계 진입 시 필요한 규칙 스킬만 자동 로드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251960"/>
            <a:ext cx="2286000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200" b="1">
                <a:solidFill>
                  <a:srgbClr val="F59E0B"/>
                </a:solidFill>
                <a:latin typeface="Malgun Gothic"/>
              </a:rPr>
              <a:t>index.md 상태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4325112"/>
            <a:ext cx="8412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1F2937"/>
                </a:solidFill>
                <a:latin typeface="Malgun Gothic"/>
              </a:rPr>
              <a:t>todo → specified → designed → implemented → validated → done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212080"/>
            <a:ext cx="2286000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200" b="1">
                <a:solidFill>
                  <a:srgbClr val="DC2626"/>
                </a:solidFill>
                <a:latin typeface="Malgun Gothic"/>
              </a:rPr>
              <a:t>CI / 하드룰 게이트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5285232"/>
            <a:ext cx="8412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1F2937"/>
                </a:solidFill>
                <a:latin typeface="Malgun Gothic"/>
              </a:rPr>
              <a:t>승인·테스트 통과 못하면 다음 단계 진행 불가 (2회 CI 개입)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1">
                <a:solidFill>
                  <a:srgbClr val="6B7280"/>
                </a:solidFill>
                <a:latin typeface="Malgun Gothic"/>
              </a:rPr>
              <a:t>이후 장들은 이 흐름의 각 구간을 확대한 내용입니다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2563EB"/>
                </a:solidFill>
                <a:latin typeface="Malgun Gothic"/>
              </a:rPr>
              <a:t>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F2937"/>
                </a:solidFill>
                <a:latin typeface="Malgun Gothic"/>
              </a:rPr>
              <a:t>전체 아키텍처와 SpecRelay 4단계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1091672" cy="254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6B7280"/>
                </a:solidFill>
                <a:latin typeface="Malgun Gothic"/>
              </a:rPr>
              <a:t>04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1554480" cy="868680"/>
          </a:xfrm>
          <a:prstGeom prst="roundRect">
            <a:avLst/>
          </a:prstGeom>
          <a:solidFill>
            <a:srgbClr val="1F2937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commands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508760"/>
            <a:ext cx="3383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B7280"/>
                </a:solidFill>
                <a:latin typeface="Malgun Gothic"/>
              </a:rPr>
              <a:t>기계적 절차 (브랜치/상태/번호)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468880"/>
            <a:ext cx="1554480" cy="868680"/>
          </a:xfrm>
          <a:prstGeom prst="roundRect">
            <a:avLst/>
          </a:prstGeom>
          <a:solidFill>
            <a:srgbClr val="1F2937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514600"/>
            <a:ext cx="3383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B7280"/>
                </a:solidFill>
                <a:latin typeface="Malgun Gothic"/>
              </a:rPr>
              <a:t>판단이 필요한 콘텐츠 작성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74720"/>
            <a:ext cx="1554480" cy="868680"/>
          </a:xfrm>
          <a:prstGeom prst="roundRect">
            <a:avLst/>
          </a:prstGeom>
          <a:solidFill>
            <a:srgbClr val="1F2937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skills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3520440"/>
            <a:ext cx="3383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B7280"/>
                </a:solidFill>
                <a:latin typeface="Malgun Gothic"/>
              </a:rPr>
              <a:t>반복 규칙의 재사용 지식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80560"/>
            <a:ext cx="1554480" cy="868680"/>
          </a:xfrm>
          <a:prstGeom prst="roundRect">
            <a:avLst/>
          </a:prstGeom>
          <a:solidFill>
            <a:srgbClr val="1F2937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specs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4526280"/>
            <a:ext cx="3383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B7280"/>
                </a:solidFill>
                <a:latin typeface="Malgun Gothic"/>
              </a:rPr>
              <a:t>요청~검증 산출물 저장소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37160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2563EB"/>
                </a:solidFill>
                <a:latin typeface="Malgun Gothic"/>
              </a:rPr>
              <a:t>SpecRelay 4단계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783080"/>
            <a:ext cx="4937760" cy="68580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l"/>
            <a:r>
              <a:rPr sz="1200" b="1">
                <a:solidFill>
                  <a:srgbClr val="1F2937"/>
                </a:solidFill>
                <a:latin typeface="Malgun Gothic"/>
              </a:rPr>
              <a:t>1. spec-new   |   analyst → spec.md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403174" y="2307047"/>
            <a:ext cx="0" cy="182880"/>
          </a:xfrm>
          <a:prstGeom prst="line">
            <a:avLst/>
          </a:prstGeom>
          <a:ln w="25400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400800" y="2651760"/>
            <a:ext cx="4937760" cy="68580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l"/>
            <a:r>
              <a:rPr sz="1200" b="1">
                <a:solidFill>
                  <a:srgbClr val="1F2937"/>
                </a:solidFill>
                <a:latin typeface="Malgun Gothic"/>
              </a:rPr>
              <a:t>2. spec-design   |   designer → design.md+task.md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403174" y="3301855"/>
            <a:ext cx="0" cy="182880"/>
          </a:xfrm>
          <a:prstGeom prst="line">
            <a:avLst/>
          </a:prstGeom>
          <a:ln w="25400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400800" y="3520440"/>
            <a:ext cx="4937760" cy="68580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l"/>
            <a:r>
              <a:rPr sz="1200" b="1">
                <a:solidFill>
                  <a:srgbClr val="1F2937"/>
                </a:solidFill>
                <a:latin typeface="Malgun Gothic"/>
              </a:rPr>
              <a:t>3. spec-implement   |   implementer → 코드+테스트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403174" y="4321482"/>
            <a:ext cx="0" cy="182880"/>
          </a:xfrm>
          <a:prstGeom prst="line">
            <a:avLst/>
          </a:prstGeom>
          <a:ln w="25400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400800" y="4389120"/>
            <a:ext cx="4937760" cy="68580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l"/>
            <a:r>
              <a:rPr sz="1200" b="1">
                <a:solidFill>
                  <a:srgbClr val="1F2937"/>
                </a:solidFill>
                <a:latin typeface="Malgun Gothic"/>
              </a:rPr>
              <a:t>4. spec-validate/pr   |   validator → validation.md, PR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2563EB"/>
                </a:solidFill>
                <a:latin typeface="Malgun Gothic"/>
              </a:rPr>
              <a:t>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F2937"/>
                </a:solidFill>
                <a:latin typeface="Malgun Gothic"/>
              </a:rPr>
              <a:t>spec-new — 시작 게이트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1091672" cy="254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6B7280"/>
                </a:solidFill>
                <a:latin typeface="Malgun Gothic"/>
              </a:rPr>
              <a:t>05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8067" y="1737360"/>
            <a:ext cx="2377440" cy="914400"/>
          </a:xfrm>
          <a:prstGeom prst="roundRect">
            <a:avLst/>
          </a:prstGeom>
          <a:solidFill>
            <a:srgbClr val="F59E0B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main 확인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0" y="2194560"/>
            <a:ext cx="0" cy="0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604107" y="1737360"/>
            <a:ext cx="2377440" cy="914400"/>
          </a:xfrm>
          <a:prstGeom prst="roundRect">
            <a:avLst/>
          </a:prstGeom>
          <a:solidFill>
            <a:srgbClr val="F59E0B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미커밋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Malgun Gothic"/>
              </a:rPr>
              <a:t>변경 차단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0" y="2194560"/>
            <a:ext cx="0" cy="0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210147" y="1737360"/>
            <a:ext cx="2377440" cy="914400"/>
          </a:xfrm>
          <a:prstGeom prst="roundRect">
            <a:avLst/>
          </a:prstGeom>
          <a:solidFill>
            <a:srgbClr val="2563EB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번호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Malgun Gothic"/>
              </a:rPr>
              <a:t>채번(US-NN)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0" y="2194560"/>
            <a:ext cx="0" cy="0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816187" y="1737360"/>
            <a:ext cx="2377440" cy="914400"/>
          </a:xfrm>
          <a:prstGeom prst="roundRect">
            <a:avLst/>
          </a:prstGeom>
          <a:solidFill>
            <a:srgbClr val="2563EB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전용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Malgun Gothic"/>
              </a:rPr>
              <a:t>브랜치 생성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159760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" y="3058160"/>
            <a:ext cx="106253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F2937"/>
                </a:solidFill>
                <a:latin typeface="Malgun Gothic"/>
              </a:rPr>
              <a:t>analyst 호출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3401568"/>
            <a:ext cx="1062532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B7280"/>
                </a:solidFill>
                <a:latin typeface="Malgun Gothic"/>
              </a:rPr>
              <a:t>spec.md 작성 — 완료 기준(AC) 명시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394200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" y="4292600"/>
            <a:ext cx="106253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F2937"/>
                </a:solidFill>
                <a:latin typeface="Malgun Gothic"/>
              </a:rPr>
              <a:t>승인 게이트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4636008"/>
            <a:ext cx="1062532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B7280"/>
                </a:solidFill>
                <a:latin typeface="Malgun Gothic"/>
              </a:rPr>
              <a:t>'## 승인' 체크 전에는 다음 단계(design) 진입 불가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2563EB"/>
                </a:solidFill>
                <a:latin typeface="Malgun Gothic"/>
              </a:rPr>
              <a:t>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F2937"/>
                </a:solidFill>
                <a:latin typeface="Malgun Gothic"/>
              </a:rPr>
              <a:t>spec-design — 설계 산출물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1091672" cy="254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6B7280"/>
                </a:solidFill>
                <a:latin typeface="Malgun Gothic"/>
              </a:rPr>
              <a:t>06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2926080" cy="1097280"/>
          </a:xfrm>
          <a:prstGeom prst="roundRect">
            <a:avLst/>
          </a:prstGeom>
          <a:solidFill>
            <a:srgbClr val="F3F4F6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400" b="1">
                <a:solidFill>
                  <a:srgbClr val="1F2937"/>
                </a:solidFill>
                <a:latin typeface="Malgun Gothic"/>
              </a:rPr>
              <a:t>spec.md</a:t>
            </a:r>
          </a:p>
          <a:p>
            <a:pPr algn="ctr"/>
            <a:r>
              <a:rPr sz="1400" b="0">
                <a:solidFill>
                  <a:srgbClr val="1F2937"/>
                </a:solidFill>
                <a:latin typeface="Malgun Gothic"/>
              </a:rPr>
              <a:t>(승인됨)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566160" y="2194560"/>
            <a:ext cx="548640" cy="0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160520" y="1645920"/>
            <a:ext cx="2926080" cy="1097280"/>
          </a:xfrm>
          <a:prstGeom prst="roundRect">
            <a:avLst/>
          </a:prstGeom>
          <a:solidFill>
            <a:srgbClr val="2563EB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designer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Malgun Gothic"/>
              </a:rPr>
              <a:t>(서브에이전트)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086600" y="2194560"/>
            <a:ext cx="548640" cy="0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680960" y="1417320"/>
            <a:ext cx="3566160" cy="64008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200" b="1">
                <a:solidFill>
                  <a:srgbClr val="1F2937"/>
                </a:solidFill>
                <a:latin typeface="Malgun Gothic"/>
              </a:rPr>
              <a:t>design.md (구조/계약/리스크)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2148840"/>
            <a:ext cx="3566160" cy="64008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200" b="1">
                <a:solidFill>
                  <a:srgbClr val="1F2937"/>
                </a:solidFill>
                <a:latin typeface="Malgun Gothic"/>
              </a:rPr>
              <a:t>task.md (작업 분리)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342640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3241040"/>
            <a:ext cx="106253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F2937"/>
                </a:solidFill>
                <a:latin typeface="Malgun Gothic"/>
              </a:rPr>
              <a:t>적용 스킬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584448"/>
            <a:ext cx="1062532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B7280"/>
                </a:solidFill>
                <a:latin typeface="Malgun Gothic"/>
              </a:rPr>
              <a:t>architecture · traceability — 레이어 의존성 위반 사전 차단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2563EB"/>
                </a:solidFill>
                <a:latin typeface="Malgun Gothic"/>
              </a:rPr>
              <a:t>STEP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F2937"/>
                </a:solidFill>
                <a:latin typeface="Malgun Gothic"/>
              </a:rPr>
              <a:t>spec-implement — Task 단위 구현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1091672" cy="254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6B7280"/>
                </a:solidFill>
                <a:latin typeface="Malgun Gothic"/>
              </a:rPr>
              <a:t>07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37360"/>
            <a:ext cx="2011680" cy="822960"/>
          </a:xfrm>
          <a:prstGeom prst="roundRect">
            <a:avLst/>
          </a:prstGeom>
          <a:solidFill>
            <a:srgbClr val="16A34A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Task 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34640" y="2148840"/>
            <a:ext cx="365760" cy="0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200400" y="1737360"/>
            <a:ext cx="2011680" cy="822960"/>
          </a:xfrm>
          <a:prstGeom prst="roundRect">
            <a:avLst/>
          </a:prstGeom>
          <a:solidFill>
            <a:srgbClr val="16A34A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Task 2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212080" y="2148840"/>
            <a:ext cx="365760" cy="0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577840" y="1737360"/>
            <a:ext cx="2011680" cy="822960"/>
          </a:xfrm>
          <a:prstGeom prst="roundRect">
            <a:avLst/>
          </a:prstGeom>
          <a:solidFill>
            <a:srgbClr val="16A34A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Task 3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589520" y="2148840"/>
            <a:ext cx="365760" cy="0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955280" y="1737360"/>
            <a:ext cx="2011680" cy="822960"/>
          </a:xfrm>
          <a:prstGeom prst="roundRect">
            <a:avLst/>
          </a:prstGeom>
          <a:solidFill>
            <a:srgbClr val="6B7280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834640"/>
            <a:ext cx="10515600" cy="731520"/>
          </a:xfrm>
          <a:prstGeom prst="roundRect">
            <a:avLst/>
          </a:prstGeom>
          <a:solidFill>
            <a:srgbClr val="FEE2E2"/>
          </a:solidFill>
          <a:ln w="1587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300" b="1">
                <a:solidFill>
                  <a:srgbClr val="DC2626"/>
                </a:solidFill>
                <a:latin typeface="Malgun Gothic"/>
              </a:rPr>
              <a:t>막히면(blocked) → [설계] 또는 [구현] 유형으로 분류해 이전 단계로 되돌림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976624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3887216"/>
            <a:ext cx="106253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 dirty="0" err="1">
                <a:solidFill>
                  <a:srgbClr val="1F2937"/>
                </a:solidFill>
                <a:latin typeface="Malgun Gothic"/>
              </a:rPr>
              <a:t>적용</a:t>
            </a:r>
            <a:r>
              <a:rPr sz="1500" b="1" i="0" dirty="0">
                <a:solidFill>
                  <a:srgbClr val="1F2937"/>
                </a:solidFill>
                <a:latin typeface="Malgun Gothic"/>
              </a:rPr>
              <a:t> </a:t>
            </a:r>
            <a:r>
              <a:rPr sz="1500" b="1" i="0" dirty="0" err="1">
                <a:solidFill>
                  <a:srgbClr val="1F2937"/>
                </a:solidFill>
                <a:latin typeface="Malgun Gothic"/>
              </a:rPr>
              <a:t>스킬</a:t>
            </a:r>
            <a:endParaRPr sz="1500" b="1" i="0" dirty="0">
              <a:solidFill>
                <a:srgbClr val="1F2937"/>
              </a:solidFill>
              <a:latin typeface="Malgun Gothi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96112" y="4230624"/>
            <a:ext cx="1062532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B7280"/>
                </a:solidFill>
                <a:latin typeface="Malgun Gothic"/>
              </a:rPr>
              <a:t>conventions · import-paths · exception-handling · logging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2563EB"/>
                </a:solidFill>
                <a:latin typeface="Malgun Gothic"/>
              </a:rPr>
              <a:t>STEP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F2937"/>
                </a:solidFill>
                <a:latin typeface="Malgun Gothic"/>
              </a:rPr>
              <a:t>spec-validate &amp; spec-pr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1091672" cy="254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6B7280"/>
                </a:solidFill>
                <a:latin typeface="Malgun Gothic"/>
              </a:rPr>
              <a:t>08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6607" y="1828800"/>
            <a:ext cx="2468880" cy="960120"/>
          </a:xfrm>
          <a:prstGeom prst="roundRect">
            <a:avLst/>
          </a:prstGeom>
          <a:solidFill>
            <a:srgbClr val="2563EB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AC별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Malgun Gothic"/>
              </a:rPr>
              <a:t>검증(재사용)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0" y="2304288"/>
            <a:ext cx="0" cy="0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489807" y="1828800"/>
            <a:ext cx="2468880" cy="960120"/>
          </a:xfrm>
          <a:prstGeom prst="roundRect">
            <a:avLst/>
          </a:prstGeom>
          <a:solidFill>
            <a:srgbClr val="2563EB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전체 회귀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Malgun Gothic"/>
              </a:rPr>
              <a:t>재검증(CI)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0" y="2304288"/>
            <a:ext cx="0" cy="0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233007" y="1828800"/>
            <a:ext cx="2468880" cy="960120"/>
          </a:xfrm>
          <a:prstGeom prst="roundRect">
            <a:avLst/>
          </a:prstGeom>
          <a:solidFill>
            <a:srgbClr val="2563EB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AI 코드리뷰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Malgun Gothic"/>
              </a:rPr>
              <a:t>자동 실행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0" y="2304288"/>
            <a:ext cx="0" cy="0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976207" y="1828800"/>
            <a:ext cx="2468880" cy="960120"/>
          </a:xfrm>
          <a:prstGeom prst="roundRect">
            <a:avLst/>
          </a:prstGeom>
          <a:solidFill>
            <a:srgbClr val="2563EB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GitHub PR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Malgun Gothic"/>
              </a:rPr>
              <a:t>merge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342640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" y="3241040"/>
            <a:ext cx="106253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F2937"/>
                </a:solidFill>
                <a:latin typeface="Malgun Gothic"/>
              </a:rPr>
              <a:t>회귀 사전 차단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3584448"/>
            <a:ext cx="1062532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B7280"/>
                </a:solidFill>
                <a:latin typeface="Malgun Gothic"/>
              </a:rPr>
              <a:t>PR 생성 전 로컬 dry-run 없음 — main 검증은 GitHub CI 전담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77080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" y="4475480"/>
            <a:ext cx="106253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F2937"/>
                </a:solidFill>
                <a:latin typeface="Malgun Gothic"/>
              </a:rPr>
              <a:t>merge 원칙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4818888"/>
            <a:ext cx="1062532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B7280"/>
                </a:solidFill>
                <a:latin typeface="Malgun Gothic"/>
              </a:rPr>
              <a:t>로컬 merge 커밋·로컬 main 전환 없음 — 병합은 오직 GitHub PR 경유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2563EB"/>
                </a:solidFill>
                <a:latin typeface="Malgun Gothic"/>
              </a:rPr>
              <a:t>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F2937"/>
                </a:solidFill>
                <a:latin typeface="Malgun Gothic"/>
              </a:rPr>
              <a:t>CI 파이프라인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1091672" cy="254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6B7280"/>
                </a:solidFill>
                <a:latin typeface="Malgun Gothic"/>
              </a:rPr>
              <a:t>09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1">
                <a:solidFill>
                  <a:srgbClr val="6B7280"/>
                </a:solidFill>
                <a:latin typeface="Malgun Gothic"/>
              </a:rPr>
              <a:t>PR 시점과 merge 시점, 두 번의 자동 검증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2011680" cy="731520"/>
          </a:xfrm>
          <a:prstGeom prst="roundRect">
            <a:avLst/>
          </a:prstGeom>
          <a:solidFill>
            <a:srgbClr val="1F2937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PR 생성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51760" y="2194560"/>
            <a:ext cx="457200" cy="0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154680" y="1828800"/>
            <a:ext cx="4206240" cy="73152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200" b="1">
                <a:solidFill>
                  <a:srgbClr val="1F2937"/>
                </a:solidFill>
                <a:latin typeface="Malgun Gothic"/>
              </a:rPr>
              <a:t>pr-build.yml</a:t>
            </a:r>
          </a:p>
          <a:p>
            <a:pPr algn="ctr"/>
            <a:r>
              <a:rPr sz="1200" b="0">
                <a:solidFill>
                  <a:srgbClr val="1F2937"/>
                </a:solidFill>
                <a:latin typeface="Malgun Gothic"/>
              </a:rPr>
              <a:t>test / lint / typecheck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60920" y="2194560"/>
            <a:ext cx="457200" cy="0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863840" y="1828800"/>
            <a:ext cx="3474720" cy="73152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200" b="1">
                <a:solidFill>
                  <a:srgbClr val="1F2937"/>
                </a:solidFill>
                <a:latin typeface="Malgun Gothic"/>
              </a:rPr>
              <a:t>AI 코드리뷰</a:t>
            </a:r>
          </a:p>
          <a:p>
            <a:pPr algn="ctr"/>
            <a:r>
              <a:rPr sz="1200" b="0">
                <a:solidFill>
                  <a:srgbClr val="1F2937"/>
                </a:solidFill>
                <a:latin typeface="Malgun Gothic"/>
              </a:rPr>
              <a:t>(인라인 코멘트)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80360"/>
            <a:ext cx="2011680" cy="731520"/>
          </a:xfrm>
          <a:prstGeom prst="roundRect">
            <a:avLst/>
          </a:prstGeom>
          <a:solidFill>
            <a:srgbClr val="1F2937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main push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51760" y="3246120"/>
            <a:ext cx="457200" cy="0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154680" y="2880360"/>
            <a:ext cx="4206240" cy="73152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200" b="1">
                <a:solidFill>
                  <a:srgbClr val="1F2937"/>
                </a:solidFill>
                <a:latin typeface="Malgun Gothic"/>
              </a:rPr>
              <a:t>merge-build.yml</a:t>
            </a:r>
          </a:p>
          <a:p>
            <a:pPr algn="ctr"/>
            <a:r>
              <a:rPr sz="1200" b="0">
                <a:solidFill>
                  <a:srgbClr val="1F2937"/>
                </a:solidFill>
                <a:latin typeface="Malgun Gothic"/>
              </a:rPr>
              <a:t>test/lint/typecheck + 이미지 빌드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60920" y="3246120"/>
            <a:ext cx="457200" cy="0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863840" y="2880360"/>
            <a:ext cx="3474720" cy="73152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200" b="1">
                <a:solidFill>
                  <a:srgbClr val="1F2937"/>
                </a:solidFill>
                <a:latin typeface="Malgun Gothic"/>
              </a:rPr>
              <a:t>ghcr push +</a:t>
            </a:r>
          </a:p>
          <a:p>
            <a:pPr algn="ctr"/>
            <a:r>
              <a:rPr sz="1200" b="0">
                <a:solidFill>
                  <a:srgbClr val="1F2937"/>
                </a:solidFill>
                <a:latin typeface="Malgun Gothic"/>
              </a:rPr>
              <a:t>다운스트림 트리거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977639"/>
            <a:ext cx="10698480" cy="731520"/>
          </a:xfrm>
          <a:prstGeom prst="roundRect">
            <a:avLst/>
          </a:prstGeom>
          <a:solidFill>
            <a:srgbClr val="FEF3C7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400" b="1">
                <a:solidFill>
                  <a:srgbClr val="1F2937"/>
                </a:solidFill>
                <a:latin typeface="Malgun Gothic"/>
              </a:rPr>
              <a:t>핵심: AI가 짠 코드도 사람 코드와 동일한 CI 게이트를 통과해야만 main에 들어간다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2563EB"/>
                </a:solidFill>
                <a:latin typeface="Malgun Gothic"/>
              </a:rPr>
              <a:t>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F2937"/>
                </a:solidFill>
                <a:latin typeface="Malgun Gothic"/>
              </a:rPr>
              <a:t>상태 관리 — specs/index.md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1091672" cy="254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6B7280"/>
                </a:solidFill>
                <a:latin typeface="Malgun Gothic"/>
              </a:rPr>
              <a:t>10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8027" y="2011680"/>
            <a:ext cx="1691640" cy="685800"/>
          </a:xfrm>
          <a:prstGeom prst="roundRect">
            <a:avLst/>
          </a:prstGeom>
          <a:solidFill>
            <a:srgbClr val="2563EB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todo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0" y="2354580"/>
            <a:ext cx="0" cy="0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506827" y="2011680"/>
            <a:ext cx="1691640" cy="685800"/>
          </a:xfrm>
          <a:prstGeom prst="roundRect">
            <a:avLst/>
          </a:prstGeom>
          <a:solidFill>
            <a:srgbClr val="2563EB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specified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0" y="2354580"/>
            <a:ext cx="0" cy="0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35627" y="2011680"/>
            <a:ext cx="1691640" cy="685800"/>
          </a:xfrm>
          <a:prstGeom prst="roundRect">
            <a:avLst/>
          </a:prstGeom>
          <a:solidFill>
            <a:srgbClr val="2563EB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designed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0" y="2354580"/>
            <a:ext cx="0" cy="0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164427" y="2011680"/>
            <a:ext cx="1691640" cy="685800"/>
          </a:xfrm>
          <a:prstGeom prst="roundRect">
            <a:avLst/>
          </a:prstGeom>
          <a:solidFill>
            <a:srgbClr val="2563EB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implemented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0" y="2354580"/>
            <a:ext cx="0" cy="0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993227" y="2011680"/>
            <a:ext cx="1691640" cy="685800"/>
          </a:xfrm>
          <a:prstGeom prst="roundRect">
            <a:avLst/>
          </a:prstGeom>
          <a:solidFill>
            <a:srgbClr val="2563EB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validated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0" y="2354580"/>
            <a:ext cx="0" cy="0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822027" y="2011680"/>
            <a:ext cx="1691640" cy="685800"/>
          </a:xfrm>
          <a:prstGeom prst="roundRect">
            <a:avLst/>
          </a:prstGeom>
          <a:solidFill>
            <a:srgbClr val="16A34A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done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3342640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" y="3241040"/>
            <a:ext cx="106253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F2937"/>
                </a:solidFill>
                <a:latin typeface="Malgun Gothic"/>
              </a:rPr>
              <a:t>유일한 상태 저장소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3584448"/>
            <a:ext cx="1062532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B7280"/>
                </a:solidFill>
                <a:latin typeface="Malgun Gothic"/>
              </a:rPr>
              <a:t>index.md의 '진행 중' 표 + History만 신뢰 — 다른 곳엔 상태 없음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4577080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6112" y="4475480"/>
            <a:ext cx="106253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F2937"/>
                </a:solidFill>
                <a:latin typeface="Malgun Gothic"/>
              </a:rPr>
              <a:t>동시 진행 대응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4818888"/>
            <a:ext cx="10625328" cy="3223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 dirty="0" err="1">
                <a:solidFill>
                  <a:srgbClr val="6B7280"/>
                </a:solidFill>
                <a:latin typeface="Malgun Gothic"/>
              </a:rPr>
              <a:t>여러</a:t>
            </a:r>
            <a:r>
              <a:rPr sz="130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lang="en-US" sz="1300" b="0" i="0" dirty="0" err="1" smtClean="0">
                <a:solidFill>
                  <a:srgbClr val="6B7280"/>
                </a:solidFill>
                <a:latin typeface="Malgun Gothic"/>
              </a:rPr>
              <a:t>s</a:t>
            </a:r>
            <a:r>
              <a:rPr sz="1300" b="0" i="0" dirty="0" err="1" smtClean="0">
                <a:solidFill>
                  <a:srgbClr val="6B7280"/>
                </a:solidFill>
                <a:latin typeface="Malgun Gothic"/>
              </a:rPr>
              <a:t>pec</a:t>
            </a:r>
            <a:r>
              <a:rPr sz="1300" b="0" i="0" dirty="0" err="1">
                <a:solidFill>
                  <a:srgbClr val="6B7280"/>
                </a:solidFill>
                <a:latin typeface="Malgun Gothic"/>
              </a:rPr>
              <a:t>이</a:t>
            </a:r>
            <a:r>
              <a:rPr sz="130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300" b="0" i="0" dirty="0" err="1">
                <a:solidFill>
                  <a:srgbClr val="6B7280"/>
                </a:solidFill>
                <a:latin typeface="Malgun Gothic"/>
              </a:rPr>
              <a:t>각자</a:t>
            </a:r>
            <a:r>
              <a:rPr sz="130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300" b="0" i="0" dirty="0" err="1">
                <a:solidFill>
                  <a:srgbClr val="6B7280"/>
                </a:solidFill>
                <a:latin typeface="Malgun Gothic"/>
              </a:rPr>
              <a:t>브랜치에서</a:t>
            </a:r>
            <a:r>
              <a:rPr sz="130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300" b="0" i="0" dirty="0" err="1">
                <a:solidFill>
                  <a:srgbClr val="6B7280"/>
                </a:solidFill>
                <a:latin typeface="Malgun Gothic"/>
              </a:rPr>
              <a:t>동시에</a:t>
            </a:r>
            <a:r>
              <a:rPr sz="130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300" b="0" i="0" dirty="0" err="1" smtClean="0">
                <a:solidFill>
                  <a:srgbClr val="6B7280"/>
                </a:solidFill>
                <a:latin typeface="Malgun Gothic"/>
              </a:rPr>
              <a:t>진행</a:t>
            </a:r>
            <a:r>
              <a:rPr lang="ko-KR" altLang="en-US" sz="1300" b="0" i="0" dirty="0" smtClean="0">
                <a:solidFill>
                  <a:srgbClr val="6B7280"/>
                </a:solidFill>
                <a:latin typeface="Malgun Gothic"/>
              </a:rPr>
              <a:t>되어도</a:t>
            </a:r>
            <a:r>
              <a:rPr sz="1300" b="0" i="0" dirty="0" smtClean="0">
                <a:solidFill>
                  <a:srgbClr val="6B7280"/>
                </a:solidFill>
                <a:latin typeface="Malgun Gothic"/>
              </a:rPr>
              <a:t> </a:t>
            </a:r>
            <a:r>
              <a:rPr sz="1300" b="0" i="0" dirty="0" err="1">
                <a:solidFill>
                  <a:srgbClr val="6B7280"/>
                </a:solidFill>
                <a:latin typeface="Malgun Gothic"/>
              </a:rPr>
              <a:t>번호</a:t>
            </a:r>
            <a:r>
              <a:rPr sz="130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300" b="0" i="0" dirty="0" err="1">
                <a:solidFill>
                  <a:srgbClr val="6B7280"/>
                </a:solidFill>
                <a:latin typeface="Malgun Gothic"/>
              </a:rPr>
              <a:t>충돌</a:t>
            </a:r>
            <a:r>
              <a:rPr sz="130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300" b="0" i="0" dirty="0" err="1">
                <a:solidFill>
                  <a:srgbClr val="6B7280"/>
                </a:solidFill>
                <a:latin typeface="Malgun Gothic"/>
              </a:rPr>
              <a:t>방지</a:t>
            </a:r>
            <a:endParaRPr sz="1300" b="0" i="0" dirty="0">
              <a:solidFill>
                <a:srgbClr val="6B7280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2563EB"/>
                </a:solidFill>
                <a:latin typeface="Malgun Gothic"/>
              </a:rPr>
              <a:t>GUARDRAIL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F2937"/>
                </a:solidFill>
                <a:latin typeface="Malgun Gothic"/>
              </a:rPr>
              <a:t>안전장치 / 하드 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1091672" cy="254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6B7280"/>
                </a:solidFill>
                <a:latin typeface="Malgun Gothic"/>
              </a:rPr>
              <a:t>11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3429000" cy="1645920"/>
          </a:xfrm>
          <a:prstGeom prst="roundRect">
            <a:avLst/>
          </a:prstGeom>
          <a:solidFill>
            <a:srgbClr val="FEE2E2"/>
          </a:solidFill>
          <a:ln w="1587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3063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DC2626"/>
                </a:solidFill>
                <a:latin typeface="Malgun Gothic"/>
              </a:rPr>
              <a:t>사용자 승인 없는 커밋 금지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3063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937"/>
                </a:solidFill>
                <a:latin typeface="Malgun Gothic"/>
              </a:rPr>
              <a:t>모든 커밋은 사용자 확인 후에만 실행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45920"/>
            <a:ext cx="3429000" cy="1645920"/>
          </a:xfrm>
          <a:prstGeom prst="roundRect">
            <a:avLst/>
          </a:prstGeom>
          <a:solidFill>
            <a:srgbClr val="FEE2E2"/>
          </a:solidFill>
          <a:ln w="1587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0" y="1828800"/>
            <a:ext cx="3063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DC2626"/>
                </a:solidFill>
                <a:latin typeface="Malgun Gothic"/>
              </a:rPr>
              <a:t>main 직접 작업 금지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468880"/>
            <a:ext cx="3063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937"/>
                </a:solidFill>
                <a:latin typeface="Malgun Gothic"/>
              </a:rPr>
              <a:t>모든 spec은 전용 브랜치에서만 진행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645920"/>
            <a:ext cx="3429000" cy="1645920"/>
          </a:xfrm>
          <a:prstGeom prst="roundRect">
            <a:avLst/>
          </a:prstGeom>
          <a:solidFill>
            <a:srgbClr val="FEE2E2"/>
          </a:solidFill>
          <a:ln w="1587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38160" y="1828800"/>
            <a:ext cx="3063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DC2626"/>
                </a:solidFill>
                <a:latin typeface="Malgun Gothic"/>
              </a:rPr>
              <a:t>merge는 PR 경유만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468880"/>
            <a:ext cx="3063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937"/>
                </a:solidFill>
                <a:latin typeface="Malgun Gothic"/>
              </a:rPr>
              <a:t>로컬 merge 커밋 생성 안 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6576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F2937"/>
                </a:solidFill>
                <a:latin typeface="Malgun Gothic"/>
              </a:rPr>
              <a:t>실패 시 자동 재시도 없음 — 항상 사용자 지시를 받은 뒤에만 재실행 (인간 개입 지점 명시)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2563EB"/>
                </a:solidFill>
                <a:latin typeface="Malgun Gothic"/>
              </a:rPr>
              <a:t>REUSE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F2937"/>
                </a:solidFill>
                <a:latin typeface="Malgun Gothic"/>
              </a:rPr>
              <a:t>지식 재사용 — Skills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1091672" cy="254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6B7280"/>
                </a:solidFill>
                <a:latin typeface="Malgun Gothic"/>
              </a:rPr>
              <a:t>12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2327" y="1554480"/>
            <a:ext cx="2514600" cy="82296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200" b="1">
                <a:solidFill>
                  <a:srgbClr val="1F2937"/>
                </a:solidFill>
                <a:latin typeface="Malgun Gothic"/>
              </a:rPr>
              <a:t>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89807" y="1554480"/>
            <a:ext cx="2514600" cy="82296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200" b="1">
                <a:solidFill>
                  <a:srgbClr val="1F2937"/>
                </a:solidFill>
                <a:latin typeface="Malgun Gothic"/>
              </a:rPr>
              <a:t>conventions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7287" y="1554480"/>
            <a:ext cx="2514600" cy="82296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200" b="1">
                <a:solidFill>
                  <a:srgbClr val="1F2937"/>
                </a:solidFill>
                <a:latin typeface="Malgun Gothic"/>
              </a:rPr>
              <a:t>import-paths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84767" y="1554480"/>
            <a:ext cx="2514600" cy="82296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200" b="1">
                <a:solidFill>
                  <a:srgbClr val="1F2937"/>
                </a:solidFill>
                <a:latin typeface="Malgun Gothic"/>
              </a:rPr>
              <a:t>exception-handling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2327" y="2606040"/>
            <a:ext cx="2514600" cy="82296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200" b="1">
                <a:solidFill>
                  <a:srgbClr val="1F2937"/>
                </a:solidFill>
                <a:latin typeface="Malgun Gothic"/>
              </a:rPr>
              <a:t>logging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89807" y="2606040"/>
            <a:ext cx="2514600" cy="82296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200" b="1">
                <a:solidFill>
                  <a:srgbClr val="1F2937"/>
                </a:solidFill>
                <a:latin typeface="Malgun Gothic"/>
              </a:rPr>
              <a:t>regression-triage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7287" y="2606040"/>
            <a:ext cx="2514600" cy="82296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200" b="1">
                <a:solidFill>
                  <a:srgbClr val="1F2937"/>
                </a:solidFill>
                <a:latin typeface="Malgun Gothic"/>
              </a:rPr>
              <a:t>spec-resolve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84767" y="2606040"/>
            <a:ext cx="2514600" cy="82296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200" b="1">
                <a:solidFill>
                  <a:srgbClr val="1F2937"/>
                </a:solidFill>
                <a:latin typeface="Malgun Gothic"/>
              </a:rPr>
              <a:t>traceability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912616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3811016"/>
            <a:ext cx="106253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F2937"/>
                </a:solidFill>
                <a:latin typeface="Malgun Gothic"/>
              </a:rPr>
              <a:t>선택적 로드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4154424"/>
            <a:ext cx="10625328" cy="3012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 dirty="0" err="1">
                <a:solidFill>
                  <a:srgbClr val="6B7280"/>
                </a:solidFill>
                <a:latin typeface="Malgun Gothic"/>
              </a:rPr>
              <a:t>에이전트별</a:t>
            </a:r>
            <a:r>
              <a:rPr sz="130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300" b="0" i="0" dirty="0" err="1">
                <a:solidFill>
                  <a:srgbClr val="6B7280"/>
                </a:solidFill>
                <a:latin typeface="Malgun Gothic"/>
              </a:rPr>
              <a:t>frontmatter의</a:t>
            </a:r>
            <a:r>
              <a:rPr sz="1300" b="0" i="0" dirty="0">
                <a:solidFill>
                  <a:srgbClr val="6B7280"/>
                </a:solidFill>
                <a:latin typeface="Malgun Gothic"/>
              </a:rPr>
              <a:t> skills: </a:t>
            </a:r>
            <a:r>
              <a:rPr sz="1300" b="0" i="0" dirty="0" err="1">
                <a:solidFill>
                  <a:srgbClr val="6B7280"/>
                </a:solidFill>
                <a:latin typeface="Malgun Gothic"/>
              </a:rPr>
              <a:t>목록에</a:t>
            </a:r>
            <a:r>
              <a:rPr sz="130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300" b="0" i="0" dirty="0" err="1">
                <a:solidFill>
                  <a:srgbClr val="6B7280"/>
                </a:solidFill>
                <a:latin typeface="Malgun Gothic"/>
              </a:rPr>
              <a:t>있는</a:t>
            </a:r>
            <a:r>
              <a:rPr sz="130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300" b="0" i="0" dirty="0" err="1">
                <a:solidFill>
                  <a:srgbClr val="6B7280"/>
                </a:solidFill>
                <a:latin typeface="Malgun Gothic"/>
              </a:rPr>
              <a:t>것만</a:t>
            </a:r>
            <a:r>
              <a:rPr sz="130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300" b="0" i="0" dirty="0" err="1">
                <a:solidFill>
                  <a:srgbClr val="6B7280"/>
                </a:solidFill>
                <a:latin typeface="Malgun Gothic"/>
              </a:rPr>
              <a:t>자동</a:t>
            </a:r>
            <a:r>
              <a:rPr sz="130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300" b="0" i="0" dirty="0" err="1" smtClean="0">
                <a:solidFill>
                  <a:srgbClr val="6B7280"/>
                </a:solidFill>
                <a:latin typeface="Malgun Gothic"/>
              </a:rPr>
              <a:t>로드</a:t>
            </a:r>
            <a:endParaRPr lang="en-US" sz="1300" b="0" i="0" dirty="0" smtClean="0">
              <a:solidFill>
                <a:srgbClr val="6B7280"/>
              </a:solidFill>
              <a:latin typeface="Malgun Gothic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40080" y="5000752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" y="4899152"/>
            <a:ext cx="106253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F2937"/>
                </a:solidFill>
                <a:latin typeface="Malgun Gothic"/>
              </a:rPr>
              <a:t>역할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5242560"/>
            <a:ext cx="10625328" cy="3012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 dirty="0" err="1">
                <a:solidFill>
                  <a:srgbClr val="6B7280"/>
                </a:solidFill>
                <a:latin typeface="Malgun Gothic"/>
              </a:rPr>
              <a:t>반복되는</a:t>
            </a:r>
            <a:r>
              <a:rPr sz="130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300" b="0" i="0" dirty="0" err="1">
                <a:solidFill>
                  <a:srgbClr val="6B7280"/>
                </a:solidFill>
                <a:latin typeface="Malgun Gothic"/>
              </a:rPr>
              <a:t>규칙</a:t>
            </a:r>
            <a:r>
              <a:rPr sz="1300" b="0" i="0" dirty="0">
                <a:solidFill>
                  <a:srgbClr val="6B7280"/>
                </a:solidFill>
                <a:latin typeface="Malgun Gothic"/>
              </a:rPr>
              <a:t>(</a:t>
            </a:r>
            <a:r>
              <a:rPr sz="1300" b="0" i="0" dirty="0" err="1">
                <a:solidFill>
                  <a:srgbClr val="6B7280"/>
                </a:solidFill>
                <a:latin typeface="Malgun Gothic"/>
              </a:rPr>
              <a:t>레이어</a:t>
            </a:r>
            <a:r>
              <a:rPr sz="1300" b="0" i="0" dirty="0">
                <a:solidFill>
                  <a:srgbClr val="6B7280"/>
                </a:solidFill>
                <a:latin typeface="Malgun Gothic"/>
              </a:rPr>
              <a:t>/</a:t>
            </a:r>
            <a:r>
              <a:rPr sz="1300" b="0" i="0" dirty="0" err="1">
                <a:solidFill>
                  <a:srgbClr val="6B7280"/>
                </a:solidFill>
                <a:latin typeface="Malgun Gothic"/>
              </a:rPr>
              <a:t>컨벤션</a:t>
            </a:r>
            <a:r>
              <a:rPr sz="1300" b="0" i="0" dirty="0">
                <a:solidFill>
                  <a:srgbClr val="6B7280"/>
                </a:solidFill>
                <a:latin typeface="Malgun Gothic"/>
              </a:rPr>
              <a:t>/</a:t>
            </a:r>
            <a:r>
              <a:rPr sz="1300" b="0" i="0" dirty="0" err="1">
                <a:solidFill>
                  <a:srgbClr val="6B7280"/>
                </a:solidFill>
                <a:latin typeface="Malgun Gothic"/>
              </a:rPr>
              <a:t>로깅</a:t>
            </a:r>
            <a:r>
              <a:rPr sz="1300" b="0" i="0" dirty="0">
                <a:solidFill>
                  <a:srgbClr val="6B7280"/>
                </a:solidFill>
                <a:latin typeface="Malgun Gothic"/>
              </a:rPr>
              <a:t> 등)을 </a:t>
            </a:r>
            <a:r>
              <a:rPr sz="1300" b="0" i="0" dirty="0" err="1">
                <a:solidFill>
                  <a:srgbClr val="6B7280"/>
                </a:solidFill>
                <a:latin typeface="Malgun Gothic"/>
              </a:rPr>
              <a:t>압축해</a:t>
            </a:r>
            <a:r>
              <a:rPr sz="130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300" b="0" i="0" dirty="0" err="1">
                <a:solidFill>
                  <a:srgbClr val="6B7280"/>
                </a:solidFill>
                <a:latin typeface="Malgun Gothic"/>
              </a:rPr>
              <a:t>매번</a:t>
            </a:r>
            <a:r>
              <a:rPr sz="130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300" b="0" i="0" dirty="0" err="1">
                <a:solidFill>
                  <a:srgbClr val="6B7280"/>
                </a:solidFill>
                <a:latin typeface="Malgun Gothic"/>
              </a:rPr>
              <a:t>재설명</a:t>
            </a:r>
            <a:r>
              <a:rPr sz="130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300" b="0" i="0" dirty="0" err="1" smtClean="0">
                <a:solidFill>
                  <a:srgbClr val="6B7280"/>
                </a:solidFill>
                <a:latin typeface="Malgun Gothic"/>
              </a:rPr>
              <a:t>방지</a:t>
            </a:r>
            <a:endParaRPr lang="en-US" sz="1300" b="0" i="0" dirty="0" smtClean="0">
              <a:solidFill>
                <a:srgbClr val="6B7280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2563EB"/>
                </a:solidFill>
                <a:latin typeface="Malgun Gothic"/>
              </a:rPr>
              <a:t>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F2937"/>
                </a:solidFill>
                <a:latin typeface="Malgun Gothic"/>
              </a:rPr>
              <a:t>메모리 시스템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1091672" cy="254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6B7280"/>
                </a:solidFill>
                <a:latin typeface="Malgun Gothic"/>
              </a:rPr>
              <a:t>13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4114800" cy="1005840"/>
          </a:xfrm>
          <a:prstGeom prst="roundRect">
            <a:avLst/>
          </a:prstGeom>
          <a:solidFill>
            <a:srgbClr val="F3F4F6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300" b="1">
                <a:solidFill>
                  <a:srgbClr val="1F2937"/>
                </a:solidFill>
                <a:latin typeface="Malgun Gothic"/>
              </a:rPr>
              <a:t>세션 A</a:t>
            </a:r>
          </a:p>
          <a:p>
            <a:pPr algn="ctr"/>
            <a:r>
              <a:rPr sz="1300" b="0">
                <a:solidFill>
                  <a:srgbClr val="1F2937"/>
                </a:solidFill>
                <a:latin typeface="Malgun Gothic"/>
              </a:rPr>
              <a:t>(작업 중 결정/함정 발견)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0" y="2331720"/>
            <a:ext cx="731520" cy="0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806440" y="1737360"/>
            <a:ext cx="2651760" cy="1188720"/>
          </a:xfrm>
          <a:prstGeom prst="roundRect">
            <a:avLst/>
          </a:prstGeom>
          <a:solidFill>
            <a:srgbClr val="2563EB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.claude/memory/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Malgun Gothic"/>
              </a:rPr>
              <a:t>MEMORY.md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458200" y="2331720"/>
            <a:ext cx="731520" cy="0"/>
          </a:xfrm>
          <a:prstGeom prst="line">
            <a:avLst/>
          </a:prstGeom>
          <a:ln w="2540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235440" y="1828800"/>
            <a:ext cx="2194560" cy="1005840"/>
          </a:xfrm>
          <a:prstGeom prst="roundRect">
            <a:avLst/>
          </a:prstGeom>
          <a:solidFill>
            <a:srgbClr val="F3F4F6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300" b="1">
                <a:solidFill>
                  <a:srgbClr val="1F2937"/>
                </a:solidFill>
                <a:latin typeface="Malgun Gothic"/>
              </a:rPr>
              <a:t>세션 B</a:t>
            </a:r>
          </a:p>
          <a:p>
            <a:pPr algn="ctr"/>
            <a:r>
              <a:rPr sz="1300" b="0">
                <a:solidFill>
                  <a:srgbClr val="1F2937"/>
                </a:solidFill>
                <a:latin typeface="Malgun Gothic"/>
              </a:rPr>
              <a:t>(다음 작업 참고)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434080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3332480"/>
            <a:ext cx="106253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F2937"/>
                </a:solidFill>
                <a:latin typeface="Malgun Gothic"/>
              </a:rPr>
              <a:t>기록 대상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675888"/>
            <a:ext cx="1062532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B7280"/>
                </a:solidFill>
                <a:latin typeface="Malgun Gothic"/>
              </a:rPr>
              <a:t>설계-구현 불일치 · 재발 가능한 함정 · 재구성 불가능한 결정 이유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668520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4566920"/>
            <a:ext cx="106253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F2937"/>
                </a:solidFill>
                <a:latin typeface="Malgun Gothic"/>
              </a:rPr>
              <a:t>기록 안 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4910328"/>
            <a:ext cx="1062532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B7280"/>
                </a:solidFill>
                <a:latin typeface="Malgun Gothic"/>
              </a:rPr>
              <a:t>코드로 바로 파생되는 내용, 이미 문서화된 컨벤션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2563EB"/>
                </a:solidFill>
                <a:latin typeface="Malgun Gothic"/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5663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2800" b="1" i="0" dirty="0" smtClean="0">
                <a:solidFill>
                  <a:srgbClr val="1F2937"/>
                </a:solidFill>
                <a:latin typeface="Malgun Gothic"/>
              </a:rPr>
              <a:t>RAG API </a:t>
            </a:r>
            <a:r>
              <a:rPr lang="ko-KR" altLang="en-US" sz="2800" b="1" dirty="0" smtClean="0">
                <a:solidFill>
                  <a:srgbClr val="1F2937"/>
                </a:solidFill>
                <a:latin typeface="Malgun Gothic"/>
              </a:rPr>
              <a:t>개발 사례</a:t>
            </a:r>
            <a:r>
              <a:rPr lang="en-US" sz="2800" b="1" i="0" dirty="0" smtClean="0">
                <a:solidFill>
                  <a:srgbClr val="1F2937"/>
                </a:solidFill>
                <a:latin typeface="Malgun Gothic"/>
              </a:rPr>
              <a:t> </a:t>
            </a:r>
            <a:endParaRPr sz="2800" b="1" i="0" dirty="0">
              <a:solidFill>
                <a:srgbClr val="1F2937"/>
              </a:solidFill>
              <a:latin typeface="Malgun Gothic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1091672" cy="254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6B7280"/>
                </a:solidFill>
                <a:latin typeface="Malgun Gothic"/>
              </a:rPr>
              <a:t>14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114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200" b="1" i="0">
                <a:solidFill>
                  <a:srgbClr val="2563EB"/>
                </a:solidFill>
                <a:latin typeface="Malgun Gothic"/>
              </a:rPr>
              <a:t>55+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4114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937"/>
                </a:solidFill>
                <a:latin typeface="Malgun Gothic"/>
              </a:rPr>
              <a:t>US-01 ~ US-55</a:t>
            </a:r>
          </a:p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937"/>
                </a:solidFill>
                <a:latin typeface="Malgun Gothic"/>
              </a:rPr>
              <a:t>spec 처리</a:t>
            </a:r>
          </a:p>
        </p:txBody>
      </p:sp>
      <p:sp>
        <p:nvSpPr>
          <p:cNvPr id="9" name="Oval 8"/>
          <p:cNvSpPr/>
          <p:nvPr/>
        </p:nvSpPr>
        <p:spPr>
          <a:xfrm>
            <a:off x="5486400" y="1879600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42432" y="1778000"/>
            <a:ext cx="5779008" cy="3462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 dirty="0">
                <a:solidFill>
                  <a:srgbClr val="1F2937"/>
                </a:solidFill>
                <a:latin typeface="Malgun Gothic"/>
              </a:rPr>
              <a:t>US-11 </a:t>
            </a:r>
            <a:r>
              <a:rPr sz="1500" b="1" i="0" dirty="0" err="1">
                <a:solidFill>
                  <a:srgbClr val="1F2937"/>
                </a:solidFill>
                <a:latin typeface="Malgun Gothic"/>
              </a:rPr>
              <a:t>Postgres</a:t>
            </a:r>
            <a:r>
              <a:rPr sz="1500" b="1" i="0" dirty="0">
                <a:solidFill>
                  <a:srgbClr val="1F2937"/>
                </a:solidFill>
                <a:latin typeface="Malgun Gothic"/>
              </a:rPr>
              <a:t> </a:t>
            </a:r>
            <a:r>
              <a:rPr sz="1500" b="1" i="0" dirty="0" err="1" smtClean="0">
                <a:solidFill>
                  <a:srgbClr val="1F2937"/>
                </a:solidFill>
                <a:latin typeface="Malgun Gothic"/>
              </a:rPr>
              <a:t>마이그레이션</a:t>
            </a:r>
            <a:endParaRPr sz="1500" b="1" i="0" dirty="0">
              <a:solidFill>
                <a:srgbClr val="1F2937"/>
              </a:solidFill>
              <a:latin typeface="Malgun Gothi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742432" y="2121408"/>
            <a:ext cx="5779008" cy="5524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 dirty="0" err="1">
                <a:solidFill>
                  <a:srgbClr val="6B7280"/>
                </a:solidFill>
                <a:latin typeface="Malgun Gothic"/>
              </a:rPr>
              <a:t>메타데이터</a:t>
            </a:r>
            <a:r>
              <a:rPr sz="130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300" b="0" i="0" dirty="0" err="1">
                <a:solidFill>
                  <a:srgbClr val="6B7280"/>
                </a:solidFill>
                <a:latin typeface="Malgun Gothic"/>
              </a:rPr>
              <a:t>저장소</a:t>
            </a:r>
            <a:r>
              <a:rPr sz="130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300" b="0" i="0" dirty="0" err="1">
                <a:solidFill>
                  <a:srgbClr val="6B7280"/>
                </a:solidFill>
                <a:latin typeface="Malgun Gothic"/>
              </a:rPr>
              <a:t>전환</a:t>
            </a:r>
            <a:r>
              <a:rPr sz="1300" b="0" i="0" dirty="0">
                <a:solidFill>
                  <a:srgbClr val="6B7280"/>
                </a:solidFill>
                <a:latin typeface="Malgun Gothic"/>
              </a:rPr>
              <a:t> — </a:t>
            </a:r>
            <a:r>
              <a:rPr sz="1300" b="0" i="0" dirty="0" err="1">
                <a:solidFill>
                  <a:srgbClr val="6B7280"/>
                </a:solidFill>
                <a:latin typeface="Malgun Gothic"/>
              </a:rPr>
              <a:t>대규모</a:t>
            </a:r>
            <a:r>
              <a:rPr sz="130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300" b="0" i="0" dirty="0" err="1">
                <a:solidFill>
                  <a:srgbClr val="6B7280"/>
                </a:solidFill>
                <a:latin typeface="Malgun Gothic"/>
              </a:rPr>
              <a:t>스키마</a:t>
            </a:r>
            <a:r>
              <a:rPr sz="130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300" b="0" i="0" dirty="0" err="1">
                <a:solidFill>
                  <a:srgbClr val="6B7280"/>
                </a:solidFill>
                <a:latin typeface="Malgun Gothic"/>
              </a:rPr>
              <a:t>변경</a:t>
            </a:r>
            <a:r>
              <a:rPr sz="130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300" b="0" i="0" dirty="0" err="1" smtClean="0">
                <a:solidFill>
                  <a:srgbClr val="6B7280"/>
                </a:solidFill>
                <a:latin typeface="Malgun Gothic"/>
              </a:rPr>
              <a:t>사례</a:t>
            </a:r>
            <a:r>
              <a:rPr lang="en-US" sz="1300" b="0" i="0" dirty="0" smtClean="0">
                <a:solidFill>
                  <a:srgbClr val="6B7280"/>
                </a:solidFill>
                <a:latin typeface="Malgun Gothic"/>
              </a:rPr>
              <a:t/>
            </a:r>
            <a:br>
              <a:rPr lang="en-US" sz="1300" b="0" i="0" dirty="0" smtClean="0">
                <a:solidFill>
                  <a:srgbClr val="6B7280"/>
                </a:solidFill>
                <a:latin typeface="Malgun Gothic"/>
              </a:rPr>
            </a:br>
            <a:r>
              <a:rPr lang="en-US" sz="1300" b="0" i="0" dirty="0" smtClean="0">
                <a:solidFill>
                  <a:srgbClr val="6B7280"/>
                </a:solidFill>
                <a:latin typeface="Malgun Gothic"/>
              </a:rPr>
              <a:t>(</a:t>
            </a:r>
            <a:r>
              <a:rPr lang="en-US" sz="1300" dirty="0" smtClean="0">
                <a:solidFill>
                  <a:srgbClr val="6B7280"/>
                </a:solidFill>
                <a:latin typeface="Malgun Gothic"/>
              </a:rPr>
              <a:t>s</a:t>
            </a:r>
            <a:r>
              <a:rPr lang="en-US" sz="1300" b="0" i="0" dirty="0" smtClean="0">
                <a:solidFill>
                  <a:srgbClr val="6B7280"/>
                </a:solidFill>
                <a:latin typeface="Malgun Gothic"/>
              </a:rPr>
              <a:t>pec.md, plan.md</a:t>
            </a:r>
            <a:r>
              <a:rPr lang="ko-KR" altLang="en-US" sz="1300" b="0" i="0" dirty="0" smtClean="0">
                <a:solidFill>
                  <a:srgbClr val="6B7280"/>
                </a:solidFill>
                <a:latin typeface="Malgun Gothic"/>
              </a:rPr>
              <a:t> 생성 요청으로 개발</a:t>
            </a:r>
            <a:r>
              <a:rPr lang="en-US" altLang="ko-KR" sz="1300" b="0" i="0" dirty="0" smtClean="0">
                <a:solidFill>
                  <a:srgbClr val="6B7280"/>
                </a:solidFill>
                <a:latin typeface="Malgun Gothic"/>
              </a:rPr>
              <a:t>)</a:t>
            </a:r>
            <a:endParaRPr sz="1300" b="0" i="0" dirty="0">
              <a:solidFill>
                <a:srgbClr val="6B7280"/>
              </a:solidFill>
              <a:latin typeface="Malgun Gothic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5486400" y="3114040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42432" y="3012440"/>
            <a:ext cx="57790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 dirty="0">
                <a:solidFill>
                  <a:srgbClr val="1F2937"/>
                </a:solidFill>
                <a:latin typeface="Malgun Gothic"/>
              </a:rPr>
              <a:t>US-53~55 </a:t>
            </a:r>
            <a:r>
              <a:rPr sz="1500" b="1" i="0" dirty="0" err="1">
                <a:solidFill>
                  <a:srgbClr val="1F2937"/>
                </a:solidFill>
                <a:latin typeface="Malgun Gothic"/>
              </a:rPr>
              <a:t>검색</a:t>
            </a:r>
            <a:r>
              <a:rPr sz="1500" b="1" i="0" dirty="0">
                <a:solidFill>
                  <a:srgbClr val="1F2937"/>
                </a:solidFill>
                <a:latin typeface="Malgun Gothic"/>
              </a:rPr>
              <a:t> </a:t>
            </a:r>
            <a:r>
              <a:rPr sz="1500" b="1" i="0" dirty="0" err="1">
                <a:solidFill>
                  <a:srgbClr val="1F2937"/>
                </a:solidFill>
                <a:latin typeface="Malgun Gothic"/>
              </a:rPr>
              <a:t>캐시</a:t>
            </a:r>
            <a:endParaRPr sz="1500" b="1" i="0" dirty="0">
              <a:solidFill>
                <a:srgbClr val="1F2937"/>
              </a:solidFill>
              <a:latin typeface="Malgun Gothi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742432" y="3355848"/>
            <a:ext cx="5779008" cy="5524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300" dirty="0" smtClean="0">
                <a:solidFill>
                  <a:srgbClr val="6B7280"/>
                </a:solidFill>
                <a:latin typeface="Malgun Gothic"/>
              </a:rPr>
              <a:t>분석→</a:t>
            </a:r>
            <a:r>
              <a:rPr sz="1300" b="0" i="0" dirty="0" err="1" smtClean="0">
                <a:solidFill>
                  <a:srgbClr val="6B7280"/>
                </a:solidFill>
                <a:latin typeface="Malgun Gothic"/>
              </a:rPr>
              <a:t>설계</a:t>
            </a:r>
            <a:r>
              <a:rPr sz="1300" b="0" i="0" dirty="0" err="1">
                <a:solidFill>
                  <a:srgbClr val="6B7280"/>
                </a:solidFill>
                <a:latin typeface="Malgun Gothic"/>
              </a:rPr>
              <a:t>→구현→분리까지</a:t>
            </a:r>
            <a:r>
              <a:rPr sz="130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300" b="0" i="0" dirty="0" err="1">
                <a:solidFill>
                  <a:srgbClr val="6B7280"/>
                </a:solidFill>
                <a:latin typeface="Malgun Gothic"/>
              </a:rPr>
              <a:t>여러</a:t>
            </a:r>
            <a:r>
              <a:rPr sz="130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lang="en-US" sz="1300" dirty="0" err="1" smtClean="0">
                <a:solidFill>
                  <a:srgbClr val="6B7280"/>
                </a:solidFill>
                <a:latin typeface="Malgun Gothic"/>
              </a:rPr>
              <a:t>S</a:t>
            </a:r>
            <a:r>
              <a:rPr sz="1300" b="0" i="0" dirty="0" err="1" smtClean="0">
                <a:solidFill>
                  <a:srgbClr val="6B7280"/>
                </a:solidFill>
                <a:latin typeface="Malgun Gothic"/>
              </a:rPr>
              <a:t>pec</a:t>
            </a:r>
            <a:r>
              <a:rPr sz="1300" b="0" i="0" dirty="0" err="1">
                <a:solidFill>
                  <a:srgbClr val="6B7280"/>
                </a:solidFill>
                <a:latin typeface="Malgun Gothic"/>
              </a:rPr>
              <a:t>에</a:t>
            </a:r>
            <a:r>
              <a:rPr sz="130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300" b="0" i="0" dirty="0" err="1">
                <a:solidFill>
                  <a:srgbClr val="6B7280"/>
                </a:solidFill>
                <a:latin typeface="Malgun Gothic"/>
              </a:rPr>
              <a:t>걸친</a:t>
            </a:r>
            <a:r>
              <a:rPr sz="130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300" b="0" i="0" dirty="0" err="1">
                <a:solidFill>
                  <a:srgbClr val="6B7280"/>
                </a:solidFill>
                <a:latin typeface="Malgun Gothic"/>
              </a:rPr>
              <a:t>반복</a:t>
            </a:r>
            <a:r>
              <a:rPr sz="130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300" b="0" i="0" dirty="0" err="1">
                <a:solidFill>
                  <a:srgbClr val="6B7280"/>
                </a:solidFill>
                <a:latin typeface="Malgun Gothic"/>
              </a:rPr>
              <a:t>개선</a:t>
            </a:r>
            <a:r>
              <a:rPr sz="1300" b="0" i="0" dirty="0">
                <a:solidFill>
                  <a:srgbClr val="6B7280"/>
                </a:solidFill>
                <a:latin typeface="Malgun Gothic"/>
              </a:rPr>
              <a:t> </a:t>
            </a:r>
            <a:r>
              <a:rPr sz="1300" b="0" i="0" dirty="0" err="1" smtClean="0">
                <a:solidFill>
                  <a:srgbClr val="6B7280"/>
                </a:solidFill>
                <a:latin typeface="Malgun Gothic"/>
              </a:rPr>
              <a:t>사례</a:t>
            </a:r>
            <a:r>
              <a:rPr lang="en-US" sz="1300" b="0" i="0" dirty="0" smtClean="0">
                <a:solidFill>
                  <a:srgbClr val="6B7280"/>
                </a:solidFill>
                <a:latin typeface="Malgun Gothic"/>
              </a:rPr>
              <a:t/>
            </a:r>
            <a:br>
              <a:rPr lang="en-US" sz="1300" b="0" i="0" dirty="0" smtClean="0">
                <a:solidFill>
                  <a:srgbClr val="6B7280"/>
                </a:solidFill>
                <a:latin typeface="Malgun Gothic"/>
              </a:rPr>
            </a:br>
            <a:r>
              <a:rPr lang="en-US" sz="1300" b="0" i="0" dirty="0" smtClean="0">
                <a:solidFill>
                  <a:srgbClr val="6B7280"/>
                </a:solidFill>
                <a:latin typeface="Malgun Gothic"/>
              </a:rPr>
              <a:t>(</a:t>
            </a:r>
            <a:r>
              <a:rPr lang="en-US" altLang="ko-KR" sz="1300" b="0" i="0" dirty="0" smtClean="0">
                <a:solidFill>
                  <a:srgbClr val="6B7280"/>
                </a:solidFill>
                <a:latin typeface="Malgun Gothic"/>
              </a:rPr>
              <a:t>SpecRelay</a:t>
            </a:r>
            <a:r>
              <a:rPr lang="ko-KR" altLang="en-US" sz="1300" dirty="0">
                <a:solidFill>
                  <a:srgbClr val="6B7280"/>
                </a:solidFill>
                <a:latin typeface="Malgun Gothic"/>
              </a:rPr>
              <a:t> </a:t>
            </a:r>
            <a:r>
              <a:rPr lang="ko-KR" altLang="en-US" sz="1300" dirty="0" smtClean="0">
                <a:solidFill>
                  <a:srgbClr val="6B7280"/>
                </a:solidFill>
                <a:latin typeface="Malgun Gothic"/>
              </a:rPr>
              <a:t>적용</a:t>
            </a:r>
            <a:r>
              <a:rPr lang="en-US" altLang="ko-KR" sz="1300" dirty="0" smtClean="0">
                <a:solidFill>
                  <a:srgbClr val="6B7280"/>
                </a:solidFill>
                <a:latin typeface="Malgun Gothic"/>
              </a:rPr>
              <a:t>)</a:t>
            </a:r>
            <a:endParaRPr sz="1300" b="0" i="0" dirty="0">
              <a:solidFill>
                <a:srgbClr val="6B7280"/>
              </a:solidFill>
              <a:latin typeface="Malgun Gothic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14400" y="5394960"/>
            <a:ext cx="10332720" cy="640080"/>
          </a:xfrm>
          <a:prstGeom prst="roundRect">
            <a:avLst/>
          </a:prstGeom>
          <a:solidFill>
            <a:srgbClr val="F3F4F6"/>
          </a:solidFill>
          <a:ln w="1587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lang="en-US" altLang="ko-KR" sz="1300" dirty="0">
                <a:solidFill>
                  <a:srgbClr val="1F2937"/>
                </a:solidFill>
                <a:latin typeface="Malgun Gothic"/>
              </a:rPr>
              <a:t>SpecRelay:</a:t>
            </a:r>
            <a:r>
              <a:rPr lang="en-US" altLang="ko-KR" sz="1300" b="0" dirty="0" smtClean="0">
                <a:solidFill>
                  <a:srgbClr val="1F2937"/>
                </a:solidFill>
                <a:latin typeface="Malgun Gothic"/>
              </a:rPr>
              <a:t> </a:t>
            </a:r>
            <a:r>
              <a:rPr lang="en-US" sz="1300" b="0" dirty="0" smtClean="0">
                <a:solidFill>
                  <a:srgbClr val="1F2937"/>
                </a:solidFill>
                <a:latin typeface="Malgun Gothic"/>
                <a:hlinkClick r:id="rId2"/>
              </a:rPr>
              <a:t>http://</a:t>
            </a:r>
            <a:r>
              <a:rPr sz="1300" b="0" dirty="0" smtClean="0">
                <a:solidFill>
                  <a:srgbClr val="1F2937"/>
                </a:solidFill>
                <a:latin typeface="Malgun Gothic"/>
                <a:hlinkClick r:id="rId2"/>
              </a:rPr>
              <a:t>github.com/cnapcloud/rag-api/.</a:t>
            </a:r>
            <a:r>
              <a:rPr sz="1300" b="0" smtClean="0">
                <a:solidFill>
                  <a:srgbClr val="1F2937"/>
                </a:solidFill>
                <a:latin typeface="Malgun Gothic"/>
                <a:hlinkClick r:id="rId2"/>
              </a:rPr>
              <a:t>claud</a:t>
            </a:r>
            <a:r>
              <a:rPr lang="en-US" sz="1300" b="0" smtClean="0">
                <a:solidFill>
                  <a:srgbClr val="1F2937"/>
                </a:solidFill>
                <a:latin typeface="Malgun Gothic"/>
                <a:hlinkClick r:id="rId2"/>
              </a:rPr>
              <a:t>e</a:t>
            </a:r>
            <a:r>
              <a:rPr lang="en-US" sz="1300">
                <a:solidFill>
                  <a:srgbClr val="1F2937"/>
                </a:solidFill>
                <a:latin typeface="Malgun Gothic"/>
              </a:rPr>
              <a:t> </a:t>
            </a:r>
            <a:r>
              <a:rPr lang="ko-KR" altLang="en-US" sz="1300" b="0" smtClean="0">
                <a:solidFill>
                  <a:srgbClr val="1F2937"/>
                </a:solidFill>
                <a:latin typeface="Malgun Gothic"/>
              </a:rPr>
              <a:t>참조</a:t>
            </a:r>
            <a:r>
              <a:rPr lang="en-US" altLang="ko-KR" sz="1300" dirty="0">
                <a:solidFill>
                  <a:srgbClr val="1F2937"/>
                </a:solidFill>
                <a:latin typeface="Malgun Gothic"/>
              </a:rPr>
              <a:t/>
            </a:r>
            <a:br>
              <a:rPr lang="en-US" altLang="ko-KR" sz="1300" dirty="0">
                <a:solidFill>
                  <a:srgbClr val="1F2937"/>
                </a:solidFill>
                <a:latin typeface="Malgun Gothic"/>
              </a:rPr>
            </a:br>
            <a:r>
              <a:rPr lang="ko-KR" altLang="en-US" sz="1300" dirty="0" smtClean="0">
                <a:solidFill>
                  <a:srgbClr val="1F2937"/>
                </a:solidFill>
                <a:latin typeface="Malgun Gothic"/>
              </a:rPr>
              <a:t>데모환경</a:t>
            </a:r>
            <a:r>
              <a:rPr lang="en-US" altLang="ko-KR" sz="1300" dirty="0" smtClean="0">
                <a:solidFill>
                  <a:srgbClr val="1F2937"/>
                </a:solidFill>
                <a:latin typeface="Malgun Gothic"/>
              </a:rPr>
              <a:t>:</a:t>
            </a:r>
            <a:r>
              <a:rPr lang="ko-KR" altLang="en-US" sz="1300" b="0" dirty="0" smtClean="0">
                <a:solidFill>
                  <a:srgbClr val="1F2937"/>
                </a:solidFill>
                <a:latin typeface="Malgun Gothic"/>
              </a:rPr>
              <a:t> </a:t>
            </a:r>
            <a:r>
              <a:rPr lang="en-US" altLang="ko-KR" sz="1300" dirty="0">
                <a:solidFill>
                  <a:srgbClr val="1F2937"/>
                </a:solidFill>
                <a:latin typeface="Malgun Gothic"/>
                <a:hlinkClick r:id="rId3"/>
              </a:rPr>
              <a:t>https://cnapcloud.com/gitops</a:t>
            </a:r>
            <a:r>
              <a:rPr lang="en-US" altLang="ko-KR" sz="1300" dirty="0" smtClean="0">
                <a:solidFill>
                  <a:srgbClr val="1F2937"/>
                </a:solidFill>
                <a:latin typeface="Malgun Gothic"/>
                <a:hlinkClick r:id="rId3"/>
              </a:rPr>
              <a:t>/</a:t>
            </a:r>
            <a:r>
              <a:rPr lang="ko-KR" altLang="en-US" sz="1300" dirty="0" smtClean="0">
                <a:solidFill>
                  <a:srgbClr val="1F2937"/>
                </a:solidFill>
                <a:latin typeface="Malgun Gothic"/>
              </a:rPr>
              <a:t>에서 </a:t>
            </a:r>
            <a:r>
              <a:rPr lang="en-US" altLang="ko-KR" sz="1300" dirty="0" smtClean="0">
                <a:solidFill>
                  <a:srgbClr val="1F2937"/>
                </a:solidFill>
                <a:latin typeface="Malgun Gothic"/>
              </a:rPr>
              <a:t>Rag Admin </a:t>
            </a:r>
            <a:r>
              <a:rPr lang="ko-KR" altLang="en-US" sz="1300" dirty="0" smtClean="0">
                <a:solidFill>
                  <a:srgbClr val="1F2937"/>
                </a:solidFill>
                <a:latin typeface="Malgun Gothic"/>
              </a:rPr>
              <a:t>접속</a:t>
            </a:r>
            <a:endParaRPr sz="1300" b="0" dirty="0">
              <a:solidFill>
                <a:srgbClr val="1F2937"/>
              </a:solidFill>
              <a:latin typeface="Malgun Gothi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2563EB"/>
                </a:solidFill>
                <a:latin typeface="Malgun Gothic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F2937"/>
                </a:solidFill>
                <a:latin typeface="Malgun Gothic"/>
              </a:rPr>
              <a:t>기대 효과 /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1091672" cy="254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6B7280"/>
                </a:solidFill>
                <a:latin typeface="Malgun Gothic"/>
              </a:rPr>
              <a:t>15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0887" y="1920240"/>
            <a:ext cx="2560320" cy="146304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8047" y="210312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2563EB"/>
                </a:solidFill>
                <a:latin typeface="Malgun Gothic"/>
              </a:rPr>
              <a:t>추적성 확보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047" y="2606040"/>
            <a:ext cx="22860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F2937"/>
                </a:solidFill>
                <a:latin typeface="Malgun Gothic"/>
              </a:rPr>
              <a:t>문서-코드 불일치 방지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4087" y="1920240"/>
            <a:ext cx="2560320" cy="146304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81247" y="210312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2563EB"/>
                </a:solidFill>
                <a:latin typeface="Malgun Gothic"/>
              </a:rPr>
              <a:t>리뷰 부담 감소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1247" y="2606040"/>
            <a:ext cx="22860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F2937"/>
                </a:solidFill>
                <a:latin typeface="Malgun Gothic"/>
              </a:rPr>
              <a:t>게이트별 사전 검증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7287" y="1920240"/>
            <a:ext cx="2560320" cy="146304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24447" y="210312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2563EB"/>
                </a:solidFill>
                <a:latin typeface="Malgun Gothic"/>
              </a:rPr>
              <a:t>반복 실수 방지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447" y="2606040"/>
            <a:ext cx="22860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F2937"/>
                </a:solidFill>
                <a:latin typeface="Malgun Gothic"/>
              </a:rPr>
              <a:t>skills/memory로 지식 재사용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30487" y="1920240"/>
            <a:ext cx="2560320" cy="146304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67647" y="210312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2563EB"/>
                </a:solidFill>
                <a:latin typeface="Malgun Gothic"/>
              </a:rPr>
              <a:t>신뢰성 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67647" y="2606040"/>
            <a:ext cx="22860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1F2937"/>
                </a:solidFill>
                <a:latin typeface="Malgun Gothic"/>
              </a:rPr>
              <a:t>판단과 절차의 명확한 분리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92608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400" b="1" i="0">
                <a:solidFill>
                  <a:srgbClr val="FFFFFF"/>
                </a:solidFill>
                <a:latin typeface="Malgun Gothic"/>
              </a:rPr>
              <a:t>Q &amp;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C7D2FE"/>
                </a:solidFill>
                <a:latin typeface="Malgun Gothic"/>
              </a:rPr>
              <a:t>감사합니다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779</Words>
  <Application>Microsoft Office PowerPoint</Application>
  <PresentationFormat>사용자 지정</PresentationFormat>
  <Paragraphs>195</Paragraphs>
  <Slides>16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7" baseType="lpstr"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CJ KIM</dc:creator>
  <dc:description>generated using python-pptx</dc:description>
  <cp:lastModifiedBy>CJ KIM</cp:lastModifiedBy>
  <cp:revision>25</cp:revision>
  <dcterms:created xsi:type="dcterms:W3CDTF">2013-01-27T09:14:16Z</dcterms:created>
  <dcterms:modified xsi:type="dcterms:W3CDTF">2026-09-19T08:14:28Z</dcterms:modified>
</cp:coreProperties>
</file>